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52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66444-1889-4B06-BCFB-E3EED3A728B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9D6DBE-A349-41F2-9B29-ED170CC56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302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D6DBE-A349-41F2-9B29-ED170CC56B6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250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C589B-D192-AE04-BD2B-21CD8C4AE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ED40D-0FE7-206C-2492-0DEAE2C84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9155C-A426-6EB3-66C3-F5A904A4B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E9462-5748-3788-BBCA-690E04998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D6DBE-A349-41F2-9B29-ED170CC56B6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8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8DED2-E180-2A2C-C0A8-5C561E670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1027D-7C4B-684A-337D-87CAA312B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C5B03A-94D2-705A-B70B-7C58FCE7A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30E84-5312-7C65-AF29-45FE8BF63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D6DBE-A349-41F2-9B29-ED170CC56B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38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DFA4B-1297-F780-E7A6-3A3546B45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1E70F-B22B-B66F-0E96-C9388C321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F06388-E5CC-51F9-91C1-1B83A49A8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59A1D-3453-EA40-7555-AC7C469B15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D6DBE-A349-41F2-9B29-ED170CC56B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260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655E1-39B1-659E-EE33-4B4E860F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AD85F-2205-6BD3-4BC4-65239C3E1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0E4B14-AD62-DA63-DAEB-A08BD837A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BAC14-27AB-56A0-ED48-CEC0AD3C2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D6DBE-A349-41F2-9B29-ED170CC56B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157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0B9AB-81FD-DCC8-2099-394E5126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04505-36FB-85F5-4AEE-07C37CE75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24822-424A-191B-C9C3-E9E572DA8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AF44A-3F96-0803-D7B9-7BD4CC70C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D6DBE-A349-41F2-9B29-ED170CC56B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705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5BC2E-DFE3-EC98-1441-515D593AF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4193B6-F7E9-EE78-439C-1C88CEABE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E0ECF-AF5E-C98C-24E2-492C4369E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85ECE-3B80-8091-8012-4EBAE82F4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D6DBE-A349-41F2-9B29-ED170CC56B6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680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9DA58-AAD0-3C0A-5563-9214E131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223BF-8148-9064-3516-143F3138D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645FC-12B7-F12B-A76B-27480B758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91D74-7B0B-7F4C-FFFF-02FAF4935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D6DBE-A349-41F2-9B29-ED170CC56B6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503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E13CC-63AA-B9DA-AED9-006654B32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8D72A-ED1C-692D-7DD6-704C2FF12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F8797-DC28-C278-0C3D-A723F552A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D7457-E834-A162-48DE-24D2FFFC0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D6DBE-A349-41F2-9B29-ED170CC56B6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991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B2C8F-5D93-1298-B408-C62915C0F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3F35A-42D1-248B-AAD6-15AC18D99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C7AA7-F88A-8311-858B-90E81FAB4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3AF3-9AD7-4BF9-8779-3D0B3C60ACA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49F47-4B4E-A1A9-7FD5-54055231A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F92FB-83CB-0FCC-0F90-E464ED9FF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42FA-1138-4997-BA66-3E106973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097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6A03B-AC44-B601-FA99-235EF7BFF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5E9B-E386-EB2A-D7DF-77BB9E4FC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F0A99-2547-91FA-E6E5-BBDE2D35E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3AF3-9AD7-4BF9-8779-3D0B3C60ACA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46ACA-FC74-4257-9FEC-CF80C3D97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BC674-58D9-824A-4AA6-E2606D26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42FA-1138-4997-BA66-3E106973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452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EFC9-FF7F-1853-E41D-AEB7D8D0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D0D60-F8AB-B683-CCAE-55722924C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399B7-286F-6E60-9AA8-626BBA98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3AF3-9AD7-4BF9-8779-3D0B3C60ACA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310B8-0EB6-9C06-9ADA-85EB0C15F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83B84-DEBB-A712-43E7-8A8FA80C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42FA-1138-4997-BA66-3E106973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139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1B5F3-3BBE-9327-5DD1-07D3CB6D3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10A24-4F42-FEC8-50EC-1A4F1E4452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08A5E-6895-F74D-B07E-AB778F8A6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BB2CF-F276-0FF8-2E4B-57ACB84B0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3AF3-9AD7-4BF9-8779-3D0B3C60ACA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6C59D-1709-6E80-6DD7-7E3C72CDC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152EC-90AC-F072-7910-8B40F17D4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42FA-1138-4997-BA66-3E106973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847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41DAB-4D71-3EF5-6104-0B4777593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CE278-25CE-7686-8E82-78349C7C4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E22BC-88E4-986E-5F77-88C9B42CB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69F3E-D33F-DF63-A6FF-EBBF0E4ED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C1D77-A913-97B9-F157-B25C640D58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6FCA4-F209-7078-BC71-CD0536B82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3AF3-9AD7-4BF9-8779-3D0B3C60ACA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6969B6-1DF7-A78F-C4B6-37C6BBFE8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5CDFEB-1BA1-40BD-4EDD-80149B15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42FA-1138-4997-BA66-3E106973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349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B490A-089C-944E-17E1-873EF99FA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CF9323-322E-3F74-3B43-653245441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3AF3-9AD7-4BF9-8779-3D0B3C60ACA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F9E1C-25AC-8F0E-5E09-C584BDC83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FD2CE-CEA5-59D3-E306-4595EF0D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42FA-1138-4997-BA66-3E106973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294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6B6908-2C07-878B-B448-E515DFA5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3AF3-9AD7-4BF9-8779-3D0B3C60ACA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16252F-4303-ADFE-D49E-BE22CD5E1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8C96C-93B5-C4F5-8C70-2FAEDABED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42FA-1138-4997-BA66-3E106973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017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D5233-71F4-1F3D-7878-7AFB82FB9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E9800-4219-2568-B9F7-919EC8FC6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A3EFA7-255C-EB53-5164-58BB2A817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5A966-537A-A998-801E-7BC9820CB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3AF3-9AD7-4BF9-8779-3D0B3C60ACA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A2792-8195-A946-E080-D92CFB15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35898-3EBC-2961-74CD-6E1D76C45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42FA-1138-4997-BA66-3E106973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994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5D23F-8F3F-1FD0-52B6-01A671E1F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252490-DCF7-DD4C-11B1-27F67F39D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43AC7C-069B-1C81-E605-0AFA7956C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16280-E632-D356-D7DE-3DA0A3FC9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3AF3-9AD7-4BF9-8779-3D0B3C60ACA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0633D-295B-E611-557C-4261553C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85881-A021-52D9-9FCB-B2C227E51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42FA-1138-4997-BA66-3E106973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636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7EBA6-CBFB-CF32-1531-BB0B7B55C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9CBFFF-8A5E-FA02-4AD2-1A8CD5D55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BE7CF-59E8-9EBE-9740-C2848EBD9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3AF3-9AD7-4BF9-8779-3D0B3C60ACA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24919-A679-5FB4-6D97-7F9AFC3DF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4A53E-DF50-8A05-F15F-AADA2886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42FA-1138-4997-BA66-3E106973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029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7C7898-5FCE-DB16-1970-A68F408D7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C8B94-6A35-31BE-0664-9C5E79EB7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A4CC2-27D0-E06F-45E0-4CB4891E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3AF3-9AD7-4BF9-8779-3D0B3C60ACA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8AAEA-11E5-0F2C-AB44-CF272FCFC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0704E-7231-9FE9-CDB4-498673246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42FA-1138-4997-BA66-3E106973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181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3BAF9F-A6DC-FAC4-F1E1-FF2EDA8D9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D82CE-7F7B-97CD-6128-83D6DE6A5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28DAF-ACBE-17F3-526A-6F35BBA55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93AF3-9AD7-4BF9-8779-3D0B3C60ACA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864AB-05C8-3461-F2CE-C5653D8A0E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3CA64-C24C-FEE9-25BE-3AC137E0D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742FA-1138-4997-BA66-3E106973A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503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A8A7EFFF-36F6-85DD-DD9D-3208720D7B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1373" y="4694045"/>
            <a:ext cx="1269253" cy="10735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7B1E71-706C-8B86-AD88-D3E722CB6579}"/>
              </a:ext>
            </a:extLst>
          </p:cNvPr>
          <p:cNvSpPr txBox="1"/>
          <p:nvPr/>
        </p:nvSpPr>
        <p:spPr>
          <a:xfrm>
            <a:off x="3911600" y="5831751"/>
            <a:ext cx="640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BUDGE BUDGE INSTITUTE OF TECHNOLOGY</a:t>
            </a:r>
            <a:endParaRPr lang="en-IN" dirty="0">
              <a:highlight>
                <a:srgbClr val="00FFFF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409C0A-58FD-311C-9415-EBD01E1A6009}"/>
              </a:ext>
            </a:extLst>
          </p:cNvPr>
          <p:cNvSpPr txBox="1"/>
          <p:nvPr/>
        </p:nvSpPr>
        <p:spPr>
          <a:xfrm>
            <a:off x="5085347" y="6168999"/>
            <a:ext cx="2983831" cy="377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July 13, 2026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24EC41-D0CA-D4C3-4E40-DE91E46BD130}"/>
              </a:ext>
            </a:extLst>
          </p:cNvPr>
          <p:cNvSpPr txBox="1"/>
          <p:nvPr/>
        </p:nvSpPr>
        <p:spPr>
          <a:xfrm>
            <a:off x="1925053" y="610187"/>
            <a:ext cx="8116413" cy="4019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Major Project Presentation</a:t>
            </a:r>
          </a:p>
          <a:p>
            <a:pPr algn="ctr"/>
            <a:r>
              <a:rPr lang="en-US" dirty="0">
                <a:solidFill>
                  <a:srgbClr val="1452AC"/>
                </a:solidFill>
              </a:rPr>
              <a:t>Computer Vision and Deep Learning  for Early Disease Diagnosis and Prediction</a:t>
            </a:r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1452AC"/>
                </a:solidFill>
              </a:rPr>
              <a:t>Presented by:</a:t>
            </a:r>
          </a:p>
          <a:p>
            <a:pPr algn="ctr"/>
            <a:r>
              <a:rPr lang="en-US" dirty="0"/>
              <a:t>SANDIPAN DUTTA : 27630822001</a:t>
            </a:r>
          </a:p>
          <a:p>
            <a:pPr algn="ctr"/>
            <a:r>
              <a:rPr lang="en-US" dirty="0"/>
              <a:t>REHAN HEJAZI : 27630822008</a:t>
            </a:r>
          </a:p>
          <a:p>
            <a:pPr algn="ctr"/>
            <a:r>
              <a:rPr lang="en-US" dirty="0"/>
              <a:t>BASUDEV DAS : 27630822018</a:t>
            </a:r>
          </a:p>
          <a:p>
            <a:pPr algn="ctr"/>
            <a:r>
              <a:rPr lang="en-US" dirty="0"/>
              <a:t>RISHI RAJ : 27630822023</a:t>
            </a:r>
            <a:endParaRPr lang="en-US" dirty="0">
              <a:solidFill>
                <a:srgbClr val="1452AC"/>
              </a:solidFill>
            </a:endParaRPr>
          </a:p>
          <a:p>
            <a:pPr algn="ctr"/>
            <a:r>
              <a:rPr lang="en-US" dirty="0"/>
              <a:t>DHRITI SUNDAR MANIK : 27630822027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>
              <a:lnSpc>
                <a:spcPct val="150000"/>
              </a:lnSpc>
            </a:pPr>
            <a:r>
              <a:rPr lang="en-US" dirty="0"/>
              <a:t>Supervisor: </a:t>
            </a:r>
            <a:r>
              <a:rPr lang="en-US" dirty="0">
                <a:solidFill>
                  <a:srgbClr val="1452AC"/>
                </a:solidFill>
              </a:rPr>
              <a:t>Prof. </a:t>
            </a:r>
            <a:r>
              <a:rPr lang="en-US" dirty="0" err="1">
                <a:solidFill>
                  <a:srgbClr val="1452AC"/>
                </a:solidFill>
              </a:rPr>
              <a:t>Subhadeep</a:t>
            </a:r>
            <a:r>
              <a:rPr lang="en-US" dirty="0">
                <a:solidFill>
                  <a:srgbClr val="1452AC"/>
                </a:solidFill>
              </a:rPr>
              <a:t> Majumdar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1452AC"/>
                </a:solidFill>
              </a:rPr>
              <a:t>Department of Computer Science Engineering (Artificial Intelligence)</a:t>
            </a:r>
            <a:endParaRPr lang="en-IN" b="1" dirty="0">
              <a:solidFill>
                <a:srgbClr val="1452A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559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5516D-7A18-AC70-6C7F-762AE2372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6B7A6-F7B0-9AFB-3AA3-2788E9060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main objective of our project is to develop an intelligent system capable of detecting pneumonia from chest X-ray images using </a:t>
            </a:r>
            <a:r>
              <a:rPr lang="en-US" sz="2400" b="1" dirty="0"/>
              <a:t>Computer Vision and Deep Learning</a:t>
            </a:r>
            <a:r>
              <a:rPr lang="en-US" sz="2400" dirty="0"/>
              <a:t>. </a:t>
            </a:r>
          </a:p>
          <a:p>
            <a:r>
              <a:rPr lang="en-US" sz="2400" dirty="0"/>
              <a:t>To build a </a:t>
            </a:r>
            <a:r>
              <a:rPr lang="en-US" sz="2400" b="1" dirty="0"/>
              <a:t>CNN-based model</a:t>
            </a:r>
            <a:r>
              <a:rPr lang="en-US" sz="2400" dirty="0"/>
              <a:t> for early diagnosis of pneumonia.</a:t>
            </a:r>
          </a:p>
          <a:p>
            <a:r>
              <a:rPr lang="en-US" sz="2400" dirty="0"/>
              <a:t>To utilize </a:t>
            </a:r>
            <a:r>
              <a:rPr lang="en-US" sz="2400" b="1" dirty="0"/>
              <a:t>Kaggle chest X-ray datasets</a:t>
            </a:r>
            <a:r>
              <a:rPr lang="en-US" sz="2400" dirty="0"/>
              <a:t> for training, validation, and testing.</a:t>
            </a:r>
          </a:p>
          <a:p>
            <a:r>
              <a:rPr lang="en-US" sz="2400" dirty="0"/>
              <a:t>To design a </a:t>
            </a:r>
            <a:r>
              <a:rPr lang="en-US" sz="2400" b="1" dirty="0"/>
              <a:t>user-friendly web interface</a:t>
            </a:r>
            <a:r>
              <a:rPr lang="en-US" sz="2400" dirty="0"/>
              <a:t> to display prediction results with probability percentages.	</a:t>
            </a:r>
          </a:p>
          <a:p>
            <a:r>
              <a:rPr lang="en-US" sz="2400" dirty="0"/>
              <a:t>To support early disease detection, assisting healthcare professionals in faster screening.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04391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DB197-583D-BC5E-EA20-77424ACB5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BFE1-02BF-9281-BDDE-194C26F4A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ABSTRACT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2012F-99B0-1F61-3E2B-CC7DE8941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This project presents </a:t>
            </a:r>
            <a:r>
              <a:rPr lang="en-US" sz="2000" b="1" dirty="0"/>
              <a:t>PneumoScan-AI</a:t>
            </a:r>
            <a:r>
              <a:rPr lang="en-US" sz="2000" dirty="0"/>
              <a:t>, an intelligent diagnostic system using computer vision and deep learning to detect pneumonia from chest X-ray images.</a:t>
            </a:r>
          </a:p>
          <a:p>
            <a:r>
              <a:rPr lang="en-US" sz="2000" dirty="0"/>
              <a:t>The baseline CNN was upgraded to a </a:t>
            </a:r>
            <a:r>
              <a:rPr lang="en-US" sz="2000" b="1" dirty="0"/>
              <a:t>DenseNet121 architecture using transfer learning</a:t>
            </a:r>
            <a:r>
              <a:rPr lang="en-US" sz="2000" dirty="0"/>
              <a:t>, fine-tuned on ~20,000 chest X-ray images from two Kaggle sources.</a:t>
            </a:r>
          </a:p>
          <a:p>
            <a:r>
              <a:rPr lang="en-US" sz="2000" dirty="0"/>
              <a:t>Model achieves </a:t>
            </a:r>
            <a:r>
              <a:rPr lang="en-US" sz="2000" b="1" dirty="0"/>
              <a:t>86.67% training accuracy, AUC of 0.9561, recall of 89.38%</a:t>
            </a:r>
            <a:r>
              <a:rPr lang="en-US" sz="2000" dirty="0"/>
              <a:t> — with early stopping halting training at epoch 5.</a:t>
            </a:r>
          </a:p>
          <a:p>
            <a:r>
              <a:rPr lang="en-US" sz="2000" dirty="0"/>
              <a:t>The Streamlit web app is now </a:t>
            </a:r>
            <a:r>
              <a:rPr lang="en-US" sz="2000" b="1" dirty="0"/>
              <a:t>publicly deployed on Hugging Face Spaces</a:t>
            </a:r>
            <a:r>
              <a:rPr lang="en-US" sz="2000" dirty="0"/>
              <a:t> — users can upload X-rays and get predictions instantly via browser.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75716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23B38-F53B-20FC-735A-D0AC3464B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47EC0-EBE6-C1B8-AFE4-43A33F2C3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F5727-122D-2D2D-6B65-0007018AC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 err="1"/>
              <a:t>CheXNet</a:t>
            </a:r>
            <a:r>
              <a:rPr lang="en-US" sz="2400" b="1" dirty="0"/>
              <a:t>:</a:t>
            </a:r>
            <a:br>
              <a:rPr lang="en-US" sz="2400" dirty="0"/>
            </a:br>
            <a:r>
              <a:rPr lang="en-US" sz="2400" dirty="0"/>
              <a:t>A deep learning model developed by Stanford University using </a:t>
            </a:r>
            <a:r>
              <a:rPr lang="en-US" sz="2400" b="1" dirty="0"/>
              <a:t>DenseNet121</a:t>
            </a:r>
            <a:r>
              <a:rPr lang="en-US" sz="2400" dirty="0"/>
              <a:t>, achieving radiologist-level performance in pneumonia detection from chest X-rays.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DenseNet121:</a:t>
            </a:r>
            <a:br>
              <a:rPr lang="en-US" sz="2400" dirty="0"/>
            </a:br>
            <a:r>
              <a:rPr lang="en-US" sz="2400" dirty="0"/>
              <a:t>A powerful convolutional neural network architecture that improves feature reuse through dense connections, enabling better gradient flow and improved performance in medical image classification tasks.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Kaggle Chest X-ray Dataset:</a:t>
            </a:r>
            <a:br>
              <a:rPr lang="en-US" sz="2400" dirty="0"/>
            </a:br>
            <a:r>
              <a:rPr lang="en-US" sz="2400" dirty="0"/>
              <a:t>A publicly available dataset widely used as a </a:t>
            </a:r>
            <a:r>
              <a:rPr lang="en-US" sz="2400" b="1" dirty="0"/>
              <a:t>benchmark for pneumonia detection research and deep learning model evaluation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1049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C0FE9-13E8-A9D3-ED3A-E3E59695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E0A52-935E-59D2-ABEA-D82DFCB7A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USED 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0E535-4A34-C21C-80A9-6D3B97527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IN" sz="3000" b="1" dirty="0"/>
              <a:t>Language:</a:t>
            </a:r>
            <a:r>
              <a:rPr lang="en-IN" sz="3000" dirty="0"/>
              <a:t> </a:t>
            </a:r>
            <a:r>
              <a:rPr lang="en-IN" sz="2400" dirty="0"/>
              <a:t>Python 3.x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b="1" dirty="0"/>
              <a:t>Core Libraries:</a:t>
            </a:r>
          </a:p>
          <a:p>
            <a:r>
              <a:rPr lang="en-US" sz="2400" b="1" dirty="0"/>
              <a:t>TensorFlow &amp; </a:t>
            </a:r>
            <a:r>
              <a:rPr lang="en-US" sz="2400" b="1" dirty="0" err="1"/>
              <a:t>Keras</a:t>
            </a:r>
            <a:r>
              <a:rPr lang="en-US" sz="2400" b="1" dirty="0"/>
              <a:t>:</a:t>
            </a:r>
            <a:r>
              <a:rPr lang="en-US" sz="2400" dirty="0"/>
              <a:t> For building and training the CNN model.</a:t>
            </a:r>
          </a:p>
          <a:p>
            <a:r>
              <a:rPr lang="en-US" sz="2400" b="1" dirty="0"/>
              <a:t>OpenCV:</a:t>
            </a:r>
            <a:r>
              <a:rPr lang="en-US" sz="2400" dirty="0"/>
              <a:t> For image loading, resizing, and preprocessing.</a:t>
            </a:r>
          </a:p>
          <a:p>
            <a:r>
              <a:rPr lang="en-US" sz="2400" b="1" dirty="0"/>
              <a:t>NumPy:</a:t>
            </a:r>
            <a:r>
              <a:rPr lang="en-US" sz="2400" dirty="0"/>
              <a:t> For numerical operations and data handling.</a:t>
            </a:r>
          </a:p>
          <a:p>
            <a:r>
              <a:rPr lang="en-US" sz="2400" b="1" dirty="0"/>
              <a:t>Matplotlib:</a:t>
            </a:r>
            <a:r>
              <a:rPr lang="en-US" sz="2400" dirty="0"/>
              <a:t> For result visualization and plotting training performance.</a:t>
            </a:r>
          </a:p>
          <a:p>
            <a:r>
              <a:rPr lang="en-US" sz="2400" b="1" dirty="0" err="1"/>
              <a:t>Streamlit</a:t>
            </a:r>
            <a:r>
              <a:rPr lang="en-US" sz="2400" b="1" dirty="0"/>
              <a:t>:</a:t>
            </a:r>
            <a:r>
              <a:rPr lang="en-US" sz="2400" dirty="0"/>
              <a:t> For creating the interactive web interface for predictions.</a:t>
            </a:r>
          </a:p>
          <a:p>
            <a:endParaRPr lang="en-US" sz="2400" dirty="0"/>
          </a:p>
          <a:p>
            <a:r>
              <a:rPr lang="fr-FR" sz="2400" b="1" dirty="0" err="1"/>
              <a:t>Development</a:t>
            </a:r>
            <a:r>
              <a:rPr lang="fr-FR" sz="2400" b="1" dirty="0"/>
              <a:t> </a:t>
            </a:r>
            <a:r>
              <a:rPr lang="fr-FR" sz="2400" b="1" dirty="0" err="1"/>
              <a:t>Environment</a:t>
            </a:r>
            <a:r>
              <a:rPr lang="fr-FR" sz="2400" b="1" dirty="0"/>
              <a:t>:</a:t>
            </a:r>
            <a:r>
              <a:rPr lang="fr-FR" sz="2400" dirty="0"/>
              <a:t> Visual Studio Code (VS Code)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33557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22FEF-1EFF-6983-421A-E8472CFD3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D957-5374-98F1-B225-0E63841FF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563B4-CE79-0867-E622-6196E1E6C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11673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The proposed approach for our system focuses on </a:t>
            </a:r>
            <a:r>
              <a:rPr lang="en-US" sz="2400" b="1" dirty="0"/>
              <a:t>detecting pneumonia from X-ray images using a deep learning CNN model integrated with a </a:t>
            </a:r>
            <a:r>
              <a:rPr lang="en-US" sz="2400" b="1" dirty="0" err="1"/>
              <a:t>Streamlit</a:t>
            </a:r>
            <a:r>
              <a:rPr lang="en-US" sz="2400" b="1" dirty="0"/>
              <a:t>-based web app.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Data preprocessing:</a:t>
            </a:r>
            <a:r>
              <a:rPr lang="en-US" sz="2400" dirty="0"/>
              <a:t> Cleaning, resizing, and augmenting X-ray images.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Model training:</a:t>
            </a:r>
            <a:r>
              <a:rPr lang="en-US" sz="2400" dirty="0"/>
              <a:t> Building and training CNN using TensorFlow/</a:t>
            </a:r>
            <a:r>
              <a:rPr lang="en-US" sz="2400" dirty="0" err="1"/>
              <a:t>Keras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Testing &amp; validation:</a:t>
            </a:r>
            <a:r>
              <a:rPr lang="en-US" sz="2400" dirty="0"/>
              <a:t> Evaluating accuracy and minimizing loss.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Deployment:</a:t>
            </a:r>
            <a:r>
              <a:rPr lang="en-US" sz="2400" dirty="0"/>
              <a:t> Integrating the trained model into </a:t>
            </a:r>
            <a:r>
              <a:rPr lang="en-US" sz="2400" b="1" dirty="0" err="1"/>
              <a:t>Streamlit</a:t>
            </a:r>
            <a:r>
              <a:rPr lang="en-US" sz="2400" dirty="0"/>
              <a:t> for real-time predictions.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Web interface:</a:t>
            </a:r>
            <a:r>
              <a:rPr lang="en-US" sz="2400" dirty="0"/>
              <a:t> Allowing users to upload X-rays and instantly view pneumonia probability results.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86054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1A68C-DFC8-9017-DC20-BA87DD2B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48F27-8648-C00B-6FF6-5680B5108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OVERVIEW OF 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C950F-68FA-6D56-A74E-D400EC85F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6435783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Developing using </a:t>
            </a:r>
            <a:r>
              <a:rPr lang="en-US" sz="2400" b="1" dirty="0" err="1"/>
              <a:t>Streamlit</a:t>
            </a:r>
            <a:r>
              <a:rPr lang="en-US" sz="2400" dirty="0"/>
              <a:t>, providing a clean and responsive web layout.</a:t>
            </a: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2400" b="1" dirty="0"/>
              <a:t>Upload Section:</a:t>
            </a:r>
            <a:r>
              <a:rPr lang="en-US" sz="2400" dirty="0"/>
              <a:t> Users can upload chest X-ray images in JPG/PNG format.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Prediction Output:</a:t>
            </a:r>
            <a:r>
              <a:rPr lang="en-US" sz="2400" dirty="0"/>
              <a:t> Displays pneumonia probability and confidence scores.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Visualization:</a:t>
            </a:r>
            <a:r>
              <a:rPr lang="en-US" sz="2400" dirty="0"/>
              <a:t> Shows side-by-side image and model result.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Interactive Experience:</a:t>
            </a:r>
            <a:r>
              <a:rPr lang="en-US" sz="2400" dirty="0"/>
              <a:t> Real-time results without reloading the page.</a:t>
            </a:r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BC74E8-BD56-AD85-5778-636C1DD57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067" y="1834623"/>
            <a:ext cx="4909881" cy="347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541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2BF77-127B-2780-FC47-2F2FB6466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77E7B-81FD-00FF-D707-A87A7BF2B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OVERVIEW OF BACKEND SURFACE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3F3B4-D181-F29B-F7CA-CE230F06D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7"/>
            <a:ext cx="10701867" cy="48021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Model Integration:</a:t>
            </a:r>
            <a:r>
              <a:rPr lang="en-US" sz="2400" dirty="0"/>
              <a:t> Trained CNN model is loaded in Python using TensorFlow.</a:t>
            </a:r>
          </a:p>
          <a:p>
            <a:pPr>
              <a:lnSpc>
                <a:spcPct val="100000"/>
              </a:lnSpc>
            </a:pPr>
            <a:r>
              <a:rPr lang="en-US" sz="2400" b="1" dirty="0" err="1"/>
              <a:t>Streamlit</a:t>
            </a:r>
            <a:r>
              <a:rPr lang="en-US" sz="2400" b="1" dirty="0"/>
              <a:t> Backend:</a:t>
            </a:r>
            <a:r>
              <a:rPr lang="en-US" sz="2400" dirty="0"/>
              <a:t> Handles user uploads, passes images to model, and displays results dynamically.</a:t>
            </a:r>
          </a:p>
          <a:p>
            <a:pPr>
              <a:lnSpc>
                <a:spcPct val="100000"/>
              </a:lnSpc>
            </a:pPr>
            <a:r>
              <a:rPr lang="en-IN" sz="2400" b="1" dirty="0"/>
              <a:t>Processing Pipeline:</a:t>
            </a:r>
            <a:br>
              <a:rPr lang="en-IN" sz="2400" dirty="0"/>
            </a:br>
            <a:r>
              <a:rPr lang="en-IN" sz="2400" dirty="0"/>
              <a:t>→ Image upload → Preprocessing → Model prediction → Display on </a:t>
            </a:r>
            <a:r>
              <a:rPr lang="en-IN" sz="2400" dirty="0" err="1"/>
              <a:t>Streamlit</a:t>
            </a:r>
            <a:r>
              <a:rPr lang="en-IN" sz="2400" dirty="0"/>
              <a:t> UI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Advantages:</a:t>
            </a:r>
            <a:r>
              <a:rPr lang="en-US" sz="2400" dirty="0"/>
              <a:t> Lightweight deployment, fast inference, easy to run locally or host online.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00481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C6F98-C890-44AC-4F0C-8C1ED6522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E7470-0480-7B67-CEB0-2F47D4AAA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TRAINING SNAPSHOT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8CE00-7B5B-A869-C164-52FD71BFD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4792133" cy="473551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45000"/>
              </a:lnSpc>
            </a:pPr>
            <a:r>
              <a:rPr lang="en-IN" sz="2400" b="1" dirty="0"/>
              <a:t>Model Training &amp; Performance</a:t>
            </a:r>
          </a:p>
          <a:p>
            <a:pPr>
              <a:lnSpc>
                <a:spcPct val="145000"/>
              </a:lnSpc>
            </a:pPr>
            <a:r>
              <a:rPr lang="en-IN" sz="2400" b="1" dirty="0"/>
              <a:t>Training Accuracy:</a:t>
            </a:r>
            <a:r>
              <a:rPr lang="en-IN" sz="2400" dirty="0"/>
              <a:t> 86.67%</a:t>
            </a:r>
            <a:br>
              <a:rPr lang="en-IN" sz="2400" dirty="0"/>
            </a:br>
            <a:r>
              <a:rPr lang="en-IN" sz="2400" b="1" dirty="0"/>
              <a:t>Validation Accuracy:</a:t>
            </a:r>
            <a:r>
              <a:rPr lang="en-IN" sz="2400" dirty="0"/>
              <a:t> ~88% | AUC: 0.9561 | Precision: 82.73% | Recall: 89.38%</a:t>
            </a:r>
          </a:p>
          <a:p>
            <a:pPr>
              <a:lnSpc>
                <a:spcPct val="145000"/>
              </a:lnSpc>
            </a:pPr>
            <a:r>
              <a:rPr lang="en-IN" sz="2400" b="1" dirty="0"/>
              <a:t>Epochs:</a:t>
            </a:r>
            <a:r>
              <a:rPr lang="en-IN" sz="2400" dirty="0"/>
              <a:t> 5/20 (Early Stopping halted at epoch 5, best weights restored)</a:t>
            </a:r>
          </a:p>
          <a:p>
            <a:pPr>
              <a:lnSpc>
                <a:spcPct val="145000"/>
              </a:lnSpc>
            </a:pPr>
            <a:r>
              <a:rPr lang="en-IN" sz="2400" b="1" dirty="0"/>
              <a:t>Model Architecture:</a:t>
            </a:r>
            <a:r>
              <a:rPr lang="en-IN" sz="2400" dirty="0"/>
              <a:t> DenseNet121 (Transfer Learning)</a:t>
            </a:r>
          </a:p>
          <a:p>
            <a:pPr>
              <a:lnSpc>
                <a:spcPct val="145000"/>
              </a:lnSpc>
            </a:pPr>
            <a:r>
              <a:rPr lang="en-IN" sz="2400" b="1" dirty="0"/>
              <a:t>Framework:</a:t>
            </a:r>
            <a:r>
              <a:rPr lang="en-IN" sz="2400" dirty="0"/>
              <a:t> TensorFlow / </a:t>
            </a:r>
            <a:r>
              <a:rPr lang="en-IN" sz="2400" dirty="0" err="1"/>
              <a:t>Keras</a:t>
            </a:r>
            <a:endParaRPr lang="en-IN" sz="2400" dirty="0"/>
          </a:p>
          <a:p>
            <a:pPr>
              <a:lnSpc>
                <a:spcPct val="145000"/>
              </a:lnSpc>
            </a:pPr>
            <a:r>
              <a:rPr lang="en-IN" sz="2400" b="1" dirty="0"/>
              <a:t>Visualization:</a:t>
            </a:r>
            <a:r>
              <a:rPr lang="en-IN" sz="2400" dirty="0"/>
              <a:t> Matplotlib (for training accuracy and loss graphs)</a:t>
            </a:r>
          </a:p>
          <a:p>
            <a:pPr>
              <a:lnSpc>
                <a:spcPct val="145000"/>
              </a:lnSpc>
            </a:pPr>
            <a:r>
              <a:rPr lang="en-IN" sz="2400" b="1" dirty="0"/>
              <a:t>Interface Tool:</a:t>
            </a:r>
            <a:r>
              <a:rPr lang="en-IN" sz="2400" dirty="0"/>
              <a:t> </a:t>
            </a:r>
            <a:r>
              <a:rPr lang="en-IN" sz="2400" dirty="0" err="1"/>
              <a:t>Streamlit</a:t>
            </a:r>
            <a:r>
              <a:rPr lang="en-IN" sz="2400" dirty="0"/>
              <a:t> (for interactive prediction and testing)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CF7F36-ED67-C128-64F6-BDCD60646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261530"/>
            <a:ext cx="4993155" cy="26376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42F0F6-B04B-5AA7-2CEF-6B9DB84F7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862" y="3962663"/>
            <a:ext cx="5060893" cy="263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547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BEF0C-7E03-E267-9DFD-02CB0C90C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0C34E-4534-B1EE-4F98-8B88F9478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Current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9C8D3-989D-F8E0-193E-AF1813B99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1357"/>
            <a:ext cx="10744201" cy="4735512"/>
          </a:xfrm>
        </p:spPr>
        <p:txBody>
          <a:bodyPr>
            <a:noAutofit/>
          </a:bodyPr>
          <a:lstStyle/>
          <a:p>
            <a:r>
              <a:rPr lang="en-US" sz="2000" b="1" dirty="0"/>
              <a:t>Phase 1 (Done): </a:t>
            </a:r>
            <a:r>
              <a:rPr lang="en-US" sz="2000" dirty="0"/>
              <a:t>Merged two Kaggle chest X-ray datasets into a combined ~20,000-image dataset; applied preprocessing and augmentation.</a:t>
            </a:r>
          </a:p>
          <a:p>
            <a:r>
              <a:rPr lang="en-US" sz="2000" b="1" dirty="0"/>
              <a:t>Phase 2 (Done): </a:t>
            </a:r>
            <a:r>
              <a:rPr lang="en-US" sz="2000" dirty="0"/>
              <a:t>Replaced baseline CNN with DenseNet121 transfer learning model; trained with early-stopping (stopped at epoch 5).</a:t>
            </a:r>
          </a:p>
          <a:p>
            <a:r>
              <a:rPr lang="en-US" sz="2000" b="1" dirty="0"/>
              <a:t>Phase 3 (Done): </a:t>
            </a:r>
            <a:r>
              <a:rPr lang="en-US" sz="2000" dirty="0"/>
              <a:t>Built Streamlit frontend integrated with trained model for real-time X-ray upload and pneumonia prediction.</a:t>
            </a:r>
          </a:p>
          <a:p>
            <a:r>
              <a:rPr lang="en-US" sz="2000" b="1" dirty="0"/>
              <a:t>Phase 4 (Done): </a:t>
            </a:r>
            <a:r>
              <a:rPr lang="en-US" sz="2000" dirty="0"/>
              <a:t>Deployed app publicly on Hugging Face Spaces — accessible at basudevdas-pneumoscan-ai.hf.space</a:t>
            </a:r>
          </a:p>
          <a:p>
            <a:r>
              <a:rPr lang="en-US" sz="2000" dirty="0"/>
              <a:t>All 4 phases complete — system is live and fully functional.</a:t>
            </a:r>
          </a:p>
        </p:txBody>
      </p:sp>
    </p:spTree>
    <p:extLst>
      <p:ext uri="{BB962C8B-B14F-4D97-AF65-F5344CB8AC3E}">
        <p14:creationId xmlns:p14="http://schemas.microsoft.com/office/powerpoint/2010/main" val="381652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B3DD0-392A-323A-0D78-CF85316B0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BE927-B9B3-749B-09B4-79ADB024C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4923D-A441-8147-7CF7-EE22E5708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626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PneumoScan-AI successfully demonstrates an end-to-end AI-assisted pneumonia screening pipeline. By upgrading from a basic CNN to DenseNet121 transfer learning on ~20,000 chest X-rays, the system achieves 86.67% training accuracy, an AUC of 0.9561, and a recall of 89.38% — making it reliable for flagging pneumonia cases. The Streamlit web app is now live on Hugging Face Spaces, meaning any user can test the model from a browser without any local setup. This project shows how practical and accessible AI diagnostic tools can be built and deployed with open-source tools.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71050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906</Words>
  <Application>Microsoft Office PowerPoint</Application>
  <PresentationFormat>Widescreen</PresentationFormat>
  <Paragraphs>83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OBJECTIVE</vt:lpstr>
      <vt:lpstr>ABSTRACT</vt:lpstr>
      <vt:lpstr>LITERATURE REVIEW</vt:lpstr>
      <vt:lpstr>USED TECH STACK</vt:lpstr>
      <vt:lpstr>PROPOSED APPROACH</vt:lpstr>
      <vt:lpstr>OVERVIEW OF USER INTERFACE</vt:lpstr>
      <vt:lpstr>OVERVIEW OF BACKEND SURFACE </vt:lpstr>
      <vt:lpstr>MODEL TRAINING SNAPSHOT</vt:lpstr>
      <vt:lpstr>Current Progress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Basudev Das</dc:creator>
  <cp:lastModifiedBy>Basudev Das</cp:lastModifiedBy>
  <cp:revision>6</cp:revision>
  <dcterms:created xsi:type="dcterms:W3CDTF">2025-10-14T16:12:31Z</dcterms:created>
  <dcterms:modified xsi:type="dcterms:W3CDTF">2026-07-12T16:09:55Z</dcterms:modified>
</cp:coreProperties>
</file>